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Lst>
  <p:sldIdLst>
    <p:sldId id="256" r:id="rId2"/>
    <p:sldId id="257" r:id="rId3"/>
    <p:sldId id="258" r:id="rId4"/>
    <p:sldId id="259" r:id="rId5"/>
    <p:sldId id="260" r:id="rId6"/>
    <p:sldId id="261" r:id="rId7"/>
    <p:sldId id="263" r:id="rId8"/>
    <p:sldId id="264" r:id="rId9"/>
    <p:sldId id="265" r:id="rId10"/>
    <p:sldId id="266" r:id="rId11"/>
    <p:sldId id="273" r:id="rId12"/>
    <p:sldId id="267" r:id="rId13"/>
    <p:sldId id="268" r:id="rId14"/>
    <p:sldId id="269" r:id="rId15"/>
    <p:sldId id="270" r:id="rId16"/>
    <p:sldId id="271" r:id="rId17"/>
    <p:sldId id="272" r:id="rId18"/>
    <p:sldId id="274" r:id="rId19"/>
    <p:sldId id="275" r:id="rId20"/>
    <p:sldId id="276" r:id="rId21"/>
    <p:sldId id="277" r:id="rId22"/>
    <p:sldId id="278" r:id="rId23"/>
    <p:sldId id="279"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5CBDC66-9B51-45E1-B51D-0D730018DB05}" type="datetimeFigureOut">
              <a:rPr lang="en-US" smtClean="0"/>
              <a:t>12/10/2025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15075DF2-4DA0-4514-B21F-B1136BAB214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05CBDC66-9B51-45E1-B51D-0D730018DB05}" type="datetimeFigureOut">
              <a:rPr lang="en-US" smtClean="0"/>
              <a:t>12/10/2025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5075DF2-4DA0-4514-B21F-B1136BAB2144}"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05CBDC66-9B51-45E1-B51D-0D730018DB05}" type="datetimeFigureOut">
              <a:rPr lang="en-US" smtClean="0"/>
              <a:t>12/10/2025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5075DF2-4DA0-4514-B21F-B1136BAB2144}"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05CBDC66-9B51-45E1-B51D-0D730018DB05}" type="datetimeFigureOut">
              <a:rPr lang="en-US" smtClean="0"/>
              <a:t>12/10/2025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15075DF2-4DA0-4514-B21F-B1136BAB2144}"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05CBDC66-9B51-45E1-B51D-0D730018DB05}" type="datetimeFigureOut">
              <a:rPr lang="en-US" smtClean="0"/>
              <a:t>12/10/2025</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15075DF2-4DA0-4514-B21F-B1136BAB2144}"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05CBDC66-9B51-45E1-B51D-0D730018DB05}" type="datetimeFigureOut">
              <a:rPr lang="en-US" smtClean="0"/>
              <a:t>12/10/2025</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15075DF2-4DA0-4514-B21F-B1136BAB2144}"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05CBDC66-9B51-45E1-B51D-0D730018DB05}" type="datetimeFigureOut">
              <a:rPr lang="en-US" smtClean="0"/>
              <a:t>12/10/2025</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15075DF2-4DA0-4514-B21F-B1136BAB214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05CBDC66-9B51-45E1-B51D-0D730018DB05}" type="datetimeFigureOut">
              <a:rPr lang="en-US" smtClean="0"/>
              <a:t>12/10/2025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15075DF2-4DA0-4514-B21F-B1136BAB2144}"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05CBDC66-9B51-45E1-B51D-0D730018DB05}" type="datetimeFigureOut">
              <a:rPr lang="en-US" smtClean="0"/>
              <a:t>12/10/2025</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15075DF2-4DA0-4514-B21F-B1136BAB2144}"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05CBDC66-9B51-45E1-B51D-0D730018DB05}" type="datetimeFigureOut">
              <a:rPr lang="en-US" smtClean="0"/>
              <a:t>12/10/2025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5075DF2-4DA0-4514-B21F-B1136BAB214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05CBDC66-9B51-45E1-B51D-0D730018DB05}" type="datetimeFigureOut">
              <a:rPr lang="en-US" smtClean="0"/>
              <a:t>12/10/2025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5075DF2-4DA0-4514-B21F-B1136BAB214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05CBDC66-9B51-45E1-B51D-0D730018DB05}" type="datetimeFigureOut">
              <a:rPr lang="en-US" smtClean="0"/>
              <a:t>12/10/2025</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15075DF2-4DA0-4514-B21F-B1136BAB214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Mathematics Behind Deep Learning</a:t>
            </a:r>
            <a:endParaRPr lang="en-US" dirty="0"/>
          </a:p>
        </p:txBody>
      </p:sp>
      <p:sp>
        <p:nvSpPr>
          <p:cNvPr id="3" name="Subtitle 2"/>
          <p:cNvSpPr>
            <a:spLocks noGrp="1"/>
          </p:cNvSpPr>
          <p:nvPr>
            <p:ph type="subTitle" idx="1"/>
          </p:nvPr>
        </p:nvSpPr>
        <p:spPr/>
        <p:txBody>
          <a:bodyPr/>
          <a:lstStyle/>
          <a:p>
            <a:r>
              <a:rPr lang="en-US" dirty="0" smtClean="0"/>
              <a:t>Abdullah Ahmed </a:t>
            </a:r>
            <a:endParaRPr lang="en-US" dirty="0"/>
          </a:p>
        </p:txBody>
      </p:sp>
    </p:spTree>
    <p:extLst>
      <p:ext uri="{BB962C8B-B14F-4D97-AF65-F5344CB8AC3E}">
        <p14:creationId xmlns:p14="http://schemas.microsoft.com/office/powerpoint/2010/main" val="2028194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smtClean="0"/>
              <a:t>Deep learning is a method of machine learning where computers learn patterns by passing data through layers of mathematical functions. </a:t>
            </a:r>
          </a:p>
          <a:p>
            <a:r>
              <a:rPr lang="en-US" sz="2000" dirty="0" smtClean="0"/>
              <a:t>It can be used for image recognition, speech recognition, and natural language processing to targeted advertising and drug discovery. </a:t>
            </a:r>
          </a:p>
          <a:p>
            <a:r>
              <a:rPr lang="en-US" sz="2000" dirty="0" smtClean="0"/>
              <a:t>We use artificial neural networks to learn complex relationships from data, and these networks are built from layers of simple mathematical functions. </a:t>
            </a:r>
            <a:endParaRPr lang="en-US" sz="2000" dirty="0"/>
          </a:p>
        </p:txBody>
      </p:sp>
      <p:sp>
        <p:nvSpPr>
          <p:cNvPr id="3" name="Title 2"/>
          <p:cNvSpPr>
            <a:spLocks noGrp="1"/>
          </p:cNvSpPr>
          <p:nvPr>
            <p:ph type="title"/>
          </p:nvPr>
        </p:nvSpPr>
        <p:spPr/>
        <p:txBody>
          <a:bodyPr/>
          <a:lstStyle/>
          <a:p>
            <a:r>
              <a:rPr lang="en-US" dirty="0" smtClean="0"/>
              <a:t>Overview </a:t>
            </a:r>
            <a:endParaRPr lang="en-US" dirty="0"/>
          </a:p>
        </p:txBody>
      </p:sp>
    </p:spTree>
    <p:extLst>
      <p:ext uri="{BB962C8B-B14F-4D97-AF65-F5344CB8AC3E}">
        <p14:creationId xmlns:p14="http://schemas.microsoft.com/office/powerpoint/2010/main" val="3525077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143000"/>
            <a:ext cx="8229600" cy="4525963"/>
          </a:xfrm>
        </p:spPr>
        <p:txBody>
          <a:bodyPr>
            <a:normAutofit/>
          </a:bodyPr>
          <a:lstStyle/>
          <a:p>
            <a:r>
              <a:rPr lang="en-US" sz="2000" dirty="0" smtClean="0"/>
              <a:t>A neural network can learn a mathematical function that matches the data that we give it. This means we can treat neural networks as tools for fitting data the same way you would fit a line or curve to points. </a:t>
            </a:r>
          </a:p>
          <a:p>
            <a:r>
              <a:rPr lang="en-US" sz="2000" dirty="0" smtClean="0"/>
              <a:t>It is built from layers of simple mathematical units called neurons. </a:t>
            </a:r>
          </a:p>
          <a:p>
            <a:r>
              <a:rPr lang="en-US" sz="2000" dirty="0" smtClean="0"/>
              <a:t>Each neuron takes a weighted combination of inputs, adds a bias, and passes the result through a nonlinear function. </a:t>
            </a:r>
          </a:p>
          <a:p>
            <a:r>
              <a:rPr lang="en-US" sz="2000" dirty="0" smtClean="0"/>
              <a:t>Adding layers allows the network to learn complex patterns that a single equation can’t.  </a:t>
            </a:r>
          </a:p>
          <a:p>
            <a:pPr marL="109728" indent="0">
              <a:buNone/>
            </a:pPr>
            <a:r>
              <a:rPr lang="en-US" sz="2000" dirty="0"/>
              <a:t> </a:t>
            </a:r>
            <a:r>
              <a:rPr lang="en-US" sz="2000" dirty="0" smtClean="0"/>
              <a:t>                                           Neuron: w = weights, b = bias,</a:t>
            </a:r>
          </a:p>
          <a:p>
            <a:pPr marL="109728" indent="0">
              <a:buNone/>
            </a:pPr>
            <a:r>
              <a:rPr lang="en-US" sz="2000" dirty="0" smtClean="0"/>
              <a:t>Sigmoid= nonlinear function, a= inputs from previous layer  </a:t>
            </a:r>
            <a:endParaRPr lang="en-US" sz="2000" dirty="0"/>
          </a:p>
        </p:txBody>
      </p:sp>
      <p:sp>
        <p:nvSpPr>
          <p:cNvPr id="3" name="Title 2"/>
          <p:cNvSpPr>
            <a:spLocks noGrp="1"/>
          </p:cNvSpPr>
          <p:nvPr>
            <p:ph type="title"/>
          </p:nvPr>
        </p:nvSpPr>
        <p:spPr/>
        <p:txBody>
          <a:bodyPr>
            <a:normAutofit fontScale="90000"/>
          </a:bodyPr>
          <a:lstStyle/>
          <a:p>
            <a:r>
              <a:rPr lang="en-US" sz="3600" dirty="0" smtClean="0"/>
              <a:t>What is an Artificial Neural Network?</a:t>
            </a:r>
            <a:endParaRPr lang="en-US" sz="36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8272" y="5257800"/>
            <a:ext cx="3738434" cy="1009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96116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smtClean="0"/>
              <a:t>The document gives an example dataset of points. Each point belongs to either category A or B (circles or crosses). </a:t>
            </a:r>
          </a:p>
          <a:p>
            <a:r>
              <a:rPr lang="en-US" sz="2000" dirty="0" smtClean="0"/>
              <a:t>The goal is to build a neural network that takes a point and predict which category it would be in what is called a classification problem. </a:t>
            </a:r>
          </a:p>
          <a:p>
            <a:r>
              <a:rPr lang="en-US" sz="2000" dirty="0" smtClean="0"/>
              <a:t>The network will learn a function that separates the two groups by adjusting its weights and biases. </a:t>
            </a:r>
            <a:endParaRPr lang="en-US" sz="2000" dirty="0"/>
          </a:p>
        </p:txBody>
      </p:sp>
      <p:sp>
        <p:nvSpPr>
          <p:cNvPr id="3" name="Title 2"/>
          <p:cNvSpPr>
            <a:spLocks noGrp="1"/>
          </p:cNvSpPr>
          <p:nvPr>
            <p:ph type="title"/>
          </p:nvPr>
        </p:nvSpPr>
        <p:spPr>
          <a:xfrm>
            <a:off x="318516" y="248165"/>
            <a:ext cx="8229600" cy="1143000"/>
          </a:xfrm>
        </p:spPr>
        <p:txBody>
          <a:bodyPr>
            <a:normAutofit/>
          </a:bodyPr>
          <a:lstStyle/>
          <a:p>
            <a:r>
              <a:rPr lang="en-US" dirty="0" smtClean="0"/>
              <a:t>Example: Classifying </a:t>
            </a:r>
            <a:r>
              <a:rPr lang="en-US" dirty="0"/>
              <a:t>Points </a:t>
            </a:r>
            <a:r>
              <a:rPr lang="en-US" dirty="0" smtClean="0"/>
              <a:t>in  </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457200"/>
            <a:ext cx="838200" cy="724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3810000"/>
            <a:ext cx="3200400" cy="264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91313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smtClean="0"/>
              <a:t>The article builds the network by using a simple, nonlinear function called the sigmoid function which is defined as </a:t>
            </a:r>
          </a:p>
          <a:p>
            <a:endParaRPr lang="en-US" sz="2000" dirty="0"/>
          </a:p>
          <a:p>
            <a:endParaRPr lang="en-US" sz="2000" dirty="0" smtClean="0"/>
          </a:p>
          <a:p>
            <a:r>
              <a:rPr lang="en-US" sz="2000" dirty="0" smtClean="0"/>
              <a:t>It is viewed as a smoothed version of a step function, which mimics the behavior of a neuron. So it outputs a value near 1 if the input is large and near 0 if the input is small. </a:t>
            </a:r>
          </a:p>
          <a:p>
            <a:r>
              <a:rPr lang="en-US" sz="2000" dirty="0" smtClean="0"/>
              <a:t>The steepness and location can also be changed by shifting or scaling the input. </a:t>
            </a:r>
            <a:endParaRPr lang="en-US" sz="2000" dirty="0"/>
          </a:p>
        </p:txBody>
      </p:sp>
      <p:sp>
        <p:nvSpPr>
          <p:cNvPr id="3" name="Title 2"/>
          <p:cNvSpPr>
            <a:spLocks noGrp="1"/>
          </p:cNvSpPr>
          <p:nvPr>
            <p:ph type="title"/>
          </p:nvPr>
        </p:nvSpPr>
        <p:spPr/>
        <p:txBody>
          <a:bodyPr/>
          <a:lstStyle/>
          <a:p>
            <a:r>
              <a:rPr lang="en-US" dirty="0" smtClean="0"/>
              <a:t>The Sigmoid Function</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5888" y="2063496"/>
            <a:ext cx="1590675" cy="771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4343400"/>
            <a:ext cx="2590800" cy="2278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30716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sz="2000" dirty="0" smtClean="0"/>
              <a:t>In each layer, every neuron forms its own weighted combination of the values coming from the previous layer, adds a bias, and then applies the sigmoid function. </a:t>
            </a:r>
          </a:p>
          <a:p>
            <a:r>
              <a:rPr lang="en-US" sz="2000" dirty="0" smtClean="0"/>
              <a:t>If outputs from one layer are collected into a vector a, then the outputs from the next layer have the form </a:t>
            </a:r>
          </a:p>
          <a:p>
            <a:endParaRPr lang="en-US" sz="2000" dirty="0"/>
          </a:p>
          <a:p>
            <a:endParaRPr lang="en-US" sz="2000" dirty="0" smtClean="0"/>
          </a:p>
          <a:p>
            <a:r>
              <a:rPr lang="en-US" sz="2000" dirty="0" smtClean="0"/>
              <a:t>Where W is a matrix containing the weights, and b is a vector containing the biases. </a:t>
            </a:r>
          </a:p>
          <a:p>
            <a:r>
              <a:rPr lang="en-US" sz="2000" dirty="0" smtClean="0"/>
              <a:t>The number of columns of W equals the number of neurons in the previous layer, and the number of rows equals the number of neurons in the current layer. </a:t>
            </a:r>
          </a:p>
          <a:p>
            <a:r>
              <a:rPr lang="en-US" sz="2000" dirty="0" smtClean="0"/>
              <a:t>Basically each matrix W is shaped so that each neuron in the current layer receives one weight for every output from the previous layer. </a:t>
            </a:r>
            <a:endParaRPr lang="en-US" sz="2000" dirty="0"/>
          </a:p>
        </p:txBody>
      </p:sp>
      <p:sp>
        <p:nvSpPr>
          <p:cNvPr id="3" name="Title 2"/>
          <p:cNvSpPr>
            <a:spLocks noGrp="1"/>
          </p:cNvSpPr>
          <p:nvPr>
            <p:ph type="title"/>
          </p:nvPr>
        </p:nvSpPr>
        <p:spPr/>
        <p:txBody>
          <a:bodyPr/>
          <a:lstStyle/>
          <a:p>
            <a:r>
              <a:rPr lang="en-US" dirty="0" smtClean="0"/>
              <a:t>How a layer works</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3200400"/>
            <a:ext cx="1480256" cy="489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39747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199" y="1481328"/>
            <a:ext cx="8443913" cy="4525963"/>
          </a:xfrm>
        </p:spPr>
        <p:txBody>
          <a:bodyPr>
            <a:normAutofit/>
          </a:bodyPr>
          <a:lstStyle/>
          <a:p>
            <a:r>
              <a:rPr lang="en-US" sz="2000" dirty="0" smtClean="0"/>
              <a:t>The article uses an artificial neural network with four layers. </a:t>
            </a:r>
          </a:p>
          <a:p>
            <a:r>
              <a:rPr lang="en-US" sz="2000" dirty="0" smtClean="0"/>
              <a:t>Layer 1 is the input layer that has two components since</a:t>
            </a:r>
          </a:p>
          <a:p>
            <a:r>
              <a:rPr lang="en-US" sz="2000" dirty="0" smtClean="0"/>
              <a:t>The second layer has two neurons. </a:t>
            </a:r>
          </a:p>
          <a:p>
            <a:r>
              <a:rPr lang="en-US" sz="2000" dirty="0" smtClean="0"/>
              <a:t>The third layer has 3 neurons. </a:t>
            </a:r>
          </a:p>
          <a:p>
            <a:r>
              <a:rPr lang="en-US" sz="2000" dirty="0" smtClean="0"/>
              <a:t>And Layer 4 is the output layer with 2 neurons. </a:t>
            </a:r>
          </a:p>
          <a:p>
            <a:r>
              <a:rPr lang="en-US" sz="2000" dirty="0" smtClean="0"/>
              <a:t>Each layer applies the operation from the previous slide and by composing these layers, the overall network defines the function:</a:t>
            </a:r>
          </a:p>
          <a:p>
            <a:endParaRPr lang="en-US" sz="2000" dirty="0"/>
          </a:p>
          <a:p>
            <a:r>
              <a:rPr lang="en-US" sz="2000" dirty="0" smtClean="0"/>
              <a:t>The function depends on 23 parameters (weight matrices and bias vectors) and the goal is to choose these parameters so that the network correctly classifies the points from the figure </a:t>
            </a:r>
          </a:p>
        </p:txBody>
      </p:sp>
      <p:sp>
        <p:nvSpPr>
          <p:cNvPr id="3" name="Title 2"/>
          <p:cNvSpPr>
            <a:spLocks noGrp="1"/>
          </p:cNvSpPr>
          <p:nvPr>
            <p:ph type="title"/>
          </p:nvPr>
        </p:nvSpPr>
        <p:spPr/>
        <p:txBody>
          <a:bodyPr/>
          <a:lstStyle/>
          <a:p>
            <a:r>
              <a:rPr lang="en-US" dirty="0" smtClean="0"/>
              <a:t>The Four-Layer Network</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1828800"/>
            <a:ext cx="900113"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962400"/>
            <a:ext cx="5753100" cy="590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8749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Four-Layer Network Imagery</a:t>
            </a:r>
            <a:endParaRPr lang="en-US"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5400" y="1905000"/>
            <a:ext cx="6400800" cy="40057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40470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smtClean="0"/>
              <a:t>Cost is a function of the weights and biases, and it is used to measure how well the network fits the data.</a:t>
            </a:r>
          </a:p>
          <a:p>
            <a:r>
              <a:rPr lang="en-US" sz="2000" dirty="0" smtClean="0"/>
              <a:t>This function compares the network output F(xi) with the desired output y1 for each data point. </a:t>
            </a:r>
          </a:p>
          <a:p>
            <a:r>
              <a:rPr lang="en-US" sz="2000" dirty="0" smtClean="0"/>
              <a:t>The article specifies a target output for each data point based on it’s category. </a:t>
            </a:r>
          </a:p>
          <a:p>
            <a:r>
              <a:rPr lang="en-US" sz="2000" dirty="0" smtClean="0"/>
              <a:t>The cost is then used to measure how well the network fits the data. </a:t>
            </a:r>
          </a:p>
          <a:p>
            <a:endParaRPr lang="en-US" sz="2000" dirty="0"/>
          </a:p>
        </p:txBody>
      </p:sp>
      <p:sp>
        <p:nvSpPr>
          <p:cNvPr id="3" name="Title 2"/>
          <p:cNvSpPr>
            <a:spLocks noGrp="1"/>
          </p:cNvSpPr>
          <p:nvPr>
            <p:ph type="title"/>
          </p:nvPr>
        </p:nvSpPr>
        <p:spPr/>
        <p:txBody>
          <a:bodyPr/>
          <a:lstStyle/>
          <a:p>
            <a:r>
              <a:rPr lang="en-US" dirty="0" smtClean="0"/>
              <a:t>The Cost Function</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4038600"/>
            <a:ext cx="5181600" cy="191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90809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smtClean="0"/>
              <a:t>Using the target outputs from the previous equation, the cost for this example is defined as:</a:t>
            </a:r>
          </a:p>
          <a:p>
            <a:endParaRPr lang="en-US" sz="2000" dirty="0"/>
          </a:p>
          <a:p>
            <a:endParaRPr lang="en-US" sz="2000" dirty="0" smtClean="0"/>
          </a:p>
          <a:p>
            <a:r>
              <a:rPr lang="en-US" sz="2000" dirty="0" smtClean="0"/>
              <a:t>This formula measures how close the network output is to the desired output for each of the ten training points. </a:t>
            </a:r>
          </a:p>
          <a:p>
            <a:r>
              <a:rPr lang="en-US" sz="2000" dirty="0" smtClean="0"/>
              <a:t>The goal is to choose the 23 parameters so that the cost is as small as possible. </a:t>
            </a:r>
          </a:p>
          <a:p>
            <a:pPr marL="109728" indent="0">
              <a:buNone/>
            </a:pPr>
            <a:endParaRPr lang="en-US" sz="2000" dirty="0"/>
          </a:p>
          <a:p>
            <a:r>
              <a:rPr lang="en-US" sz="2000" dirty="0" smtClean="0"/>
              <a:t>The factor ½ and averaging 1/10 are used to simplify later calculations and to compute mean error. </a:t>
            </a:r>
            <a:endParaRPr lang="en-US" sz="2000" dirty="0"/>
          </a:p>
        </p:txBody>
      </p:sp>
      <p:sp>
        <p:nvSpPr>
          <p:cNvPr id="3" name="Title 2"/>
          <p:cNvSpPr>
            <a:spLocks noGrp="1"/>
          </p:cNvSpPr>
          <p:nvPr>
            <p:ph type="title"/>
          </p:nvPr>
        </p:nvSpPr>
        <p:spPr/>
        <p:txBody>
          <a:bodyPr/>
          <a:lstStyle/>
          <a:p>
            <a:r>
              <a:rPr lang="en-US" dirty="0" smtClean="0"/>
              <a:t>The Cost Function Formula</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63" y="2093404"/>
            <a:ext cx="7000875" cy="809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3810000"/>
            <a:ext cx="2362200" cy="6726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50560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Visualization of output </a:t>
            </a:r>
            <a:endParaRPr lang="en-US" dirty="0"/>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 y="1447800"/>
            <a:ext cx="4572000" cy="33339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1371600"/>
            <a:ext cx="4389120" cy="3346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4839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smtClean="0"/>
              <a:t>We now move on to the general mathematical framework for artificial neural networks. </a:t>
            </a:r>
          </a:p>
          <a:p>
            <a:r>
              <a:rPr lang="en-US" sz="2000" dirty="0" smtClean="0"/>
              <a:t>A neural network is viewed as a function that maps an input vector to an output vector through a sequence of layers.</a:t>
            </a:r>
          </a:p>
          <a:p>
            <a:r>
              <a:rPr lang="en-US" sz="2000" dirty="0" smtClean="0"/>
              <a:t>Each layer has its own weight matrix, bias vector, and applies a nonlinear function like the sigmoid to the result of its weighted combination.</a:t>
            </a:r>
          </a:p>
          <a:p>
            <a:r>
              <a:rPr lang="en-US" sz="2000" dirty="0" smtClean="0"/>
              <a:t>The goal is to choose all weights and biases so that the network approximates a desired mapping based on training data. </a:t>
            </a:r>
            <a:endParaRPr lang="en-US" sz="2000" dirty="0"/>
          </a:p>
        </p:txBody>
      </p:sp>
      <p:sp>
        <p:nvSpPr>
          <p:cNvPr id="3" name="Title 2"/>
          <p:cNvSpPr>
            <a:spLocks noGrp="1"/>
          </p:cNvSpPr>
          <p:nvPr>
            <p:ph type="title"/>
          </p:nvPr>
        </p:nvSpPr>
        <p:spPr/>
        <p:txBody>
          <a:bodyPr/>
          <a:lstStyle/>
          <a:p>
            <a:r>
              <a:rPr lang="en-US" dirty="0" smtClean="0"/>
              <a:t>The General Setup</a:t>
            </a:r>
            <a:endParaRPr lang="en-US" dirty="0"/>
          </a:p>
        </p:txBody>
      </p:sp>
    </p:spTree>
    <p:extLst>
      <p:ext uri="{BB962C8B-B14F-4D97-AF65-F5344CB8AC3E}">
        <p14:creationId xmlns:p14="http://schemas.microsoft.com/office/powerpoint/2010/main" val="2981770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smtClean="0"/>
              <a:t>In a general setup, a neural network has L layers with sizes n0, n1,,,,,nL. Where n0 is the dimension of the input and </a:t>
            </a:r>
            <a:r>
              <a:rPr lang="en-US" sz="2000" dirty="0" err="1" smtClean="0"/>
              <a:t>nL</a:t>
            </a:r>
            <a:r>
              <a:rPr lang="en-US" sz="2000" dirty="0" smtClean="0"/>
              <a:t> is the dimension of the output.</a:t>
            </a:r>
          </a:p>
          <a:p>
            <a:r>
              <a:rPr lang="en-US" sz="2000" dirty="0" smtClean="0"/>
              <a:t>For each layer l= 1,….,L, the formula is:</a:t>
            </a:r>
          </a:p>
          <a:p>
            <a:endParaRPr lang="en-US" sz="2000" dirty="0"/>
          </a:p>
          <a:p>
            <a:endParaRPr lang="en-US" sz="2000" dirty="0" smtClean="0"/>
          </a:p>
          <a:p>
            <a:r>
              <a:rPr lang="en-US" sz="2000" dirty="0"/>
              <a:t>Where </a:t>
            </a:r>
            <a:r>
              <a:rPr lang="en-US" sz="2000" dirty="0" smtClean="0"/>
              <a:t>W is the weight matrix, b is the bias vector, and sigmoid is the same nonlinear function. </a:t>
            </a:r>
          </a:p>
          <a:p>
            <a:endParaRPr lang="en-US" sz="2000" dirty="0" smtClean="0"/>
          </a:p>
        </p:txBody>
      </p:sp>
      <p:sp>
        <p:nvSpPr>
          <p:cNvPr id="3" name="Title 2"/>
          <p:cNvSpPr>
            <a:spLocks noGrp="1"/>
          </p:cNvSpPr>
          <p:nvPr>
            <p:ph type="title"/>
          </p:nvPr>
        </p:nvSpPr>
        <p:spPr/>
        <p:txBody>
          <a:bodyPr>
            <a:noAutofit/>
          </a:bodyPr>
          <a:lstStyle/>
          <a:p>
            <a:r>
              <a:rPr lang="en-US" sz="3200" dirty="0" smtClean="0"/>
              <a:t>General form of a Neural Network Layer</a:t>
            </a:r>
            <a:endParaRPr lang="en-US" sz="32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5480" y="2781681"/>
            <a:ext cx="5162550" cy="552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46846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smtClean="0"/>
              <a:t>The cost function measures how well the network fits all N training examples. The general form is written as: </a:t>
            </a:r>
          </a:p>
          <a:p>
            <a:endParaRPr lang="en-US" sz="2000" dirty="0" smtClean="0"/>
          </a:p>
          <a:p>
            <a:endParaRPr lang="en-US" sz="2000" dirty="0"/>
          </a:p>
          <a:p>
            <a:endParaRPr lang="en-US" sz="2000" dirty="0" smtClean="0"/>
          </a:p>
          <a:p>
            <a:r>
              <a:rPr lang="en-US" sz="2000" dirty="0" smtClean="0"/>
              <a:t>The training problem is to choose all weight matrices and bias vectors so that the cost is minimized. </a:t>
            </a:r>
          </a:p>
          <a:p>
            <a:endParaRPr lang="en-US" sz="2000" dirty="0"/>
          </a:p>
        </p:txBody>
      </p:sp>
      <p:sp>
        <p:nvSpPr>
          <p:cNvPr id="3" name="Title 2"/>
          <p:cNvSpPr>
            <a:spLocks noGrp="1"/>
          </p:cNvSpPr>
          <p:nvPr>
            <p:ph type="title"/>
          </p:nvPr>
        </p:nvSpPr>
        <p:spPr/>
        <p:txBody>
          <a:bodyPr>
            <a:normAutofit/>
          </a:bodyPr>
          <a:lstStyle/>
          <a:p>
            <a:r>
              <a:rPr lang="en-US" sz="3600" dirty="0" smtClean="0"/>
              <a:t>General Cost and Training Objective</a:t>
            </a:r>
            <a:endParaRPr lang="en-US" sz="36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209800"/>
            <a:ext cx="4257675"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63008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smtClean="0"/>
              <a:t>Training a neural network means choosing the parameters that minimize the cost function. It is convenient to collect all parameters into a single vector p. </a:t>
            </a:r>
          </a:p>
          <a:p>
            <a:r>
              <a:rPr lang="en-US" sz="2000" dirty="0" smtClean="0"/>
              <a:t>A common optimization method for minimizing cost is gradient descent. </a:t>
            </a:r>
          </a:p>
          <a:p>
            <a:r>
              <a:rPr lang="en-US" sz="2000" dirty="0" smtClean="0"/>
              <a:t>Using a Taylor expansion, a small change </a:t>
            </a:r>
            <a:r>
              <a:rPr lang="el-GR" sz="2000" dirty="0"/>
              <a:t>Δ</a:t>
            </a:r>
            <a:r>
              <a:rPr lang="en-US" sz="2000" dirty="0" smtClean="0"/>
              <a:t>p gives:</a:t>
            </a:r>
          </a:p>
          <a:p>
            <a:endParaRPr lang="en-US" sz="2000" dirty="0"/>
          </a:p>
          <a:p>
            <a:endParaRPr lang="en-US" sz="2000" dirty="0" smtClean="0"/>
          </a:p>
          <a:p>
            <a:r>
              <a:rPr lang="en-US" sz="2000" dirty="0" smtClean="0"/>
              <a:t>To reduce the cost we choose </a:t>
            </a:r>
            <a:r>
              <a:rPr lang="el-GR" sz="2000" dirty="0"/>
              <a:t>Δ</a:t>
            </a:r>
            <a:r>
              <a:rPr lang="en-US" sz="2000" dirty="0"/>
              <a:t>p </a:t>
            </a:r>
            <a:r>
              <a:rPr lang="en-US" sz="2000" dirty="0" smtClean="0"/>
              <a:t> in the direction of negative gradient which gives</a:t>
            </a:r>
          </a:p>
          <a:p>
            <a:pPr marL="109728" indent="0">
              <a:buNone/>
            </a:pPr>
            <a:r>
              <a:rPr lang="en-US" sz="2000" dirty="0" smtClean="0"/>
              <a:t> </a:t>
            </a:r>
          </a:p>
          <a:p>
            <a:r>
              <a:rPr lang="en-US" sz="2000" dirty="0" smtClean="0"/>
              <a:t>Where the n is a small step size called the learning rate</a:t>
            </a:r>
            <a:endParaRPr lang="en-US" sz="2000" dirty="0"/>
          </a:p>
        </p:txBody>
      </p:sp>
      <p:sp>
        <p:nvSpPr>
          <p:cNvPr id="3" name="Title 2"/>
          <p:cNvSpPr>
            <a:spLocks noGrp="1"/>
          </p:cNvSpPr>
          <p:nvPr>
            <p:ph type="title"/>
          </p:nvPr>
        </p:nvSpPr>
        <p:spPr/>
        <p:txBody>
          <a:bodyPr/>
          <a:lstStyle/>
          <a:p>
            <a:r>
              <a:rPr lang="en-US" dirty="0" smtClean="0"/>
              <a:t>Gradient Descent</a:t>
            </a: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429000"/>
            <a:ext cx="4467225" cy="676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4572000"/>
            <a:ext cx="2543175" cy="428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81342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smtClean="0"/>
              <a:t>Computing the full gradient can be tedious when the number of training points N is large.  </a:t>
            </a:r>
          </a:p>
          <a:p>
            <a:endParaRPr lang="en-US" sz="2000" dirty="0"/>
          </a:p>
          <a:p>
            <a:endParaRPr lang="en-US" sz="2000" dirty="0" smtClean="0"/>
          </a:p>
          <a:p>
            <a:endParaRPr lang="en-US" sz="2000" dirty="0"/>
          </a:p>
          <a:p>
            <a:r>
              <a:rPr lang="en-US" sz="2000" dirty="0" smtClean="0"/>
              <a:t>So a better alternative is to replace the full gradient by the gradient from a single randomly chosen training point.</a:t>
            </a:r>
          </a:p>
          <a:p>
            <a:r>
              <a:rPr lang="en-US" sz="2000" dirty="0" smtClean="0"/>
              <a:t>For a randomly </a:t>
            </a:r>
            <a:r>
              <a:rPr lang="en-US" sz="2000" dirty="0"/>
              <a:t>chosen index </a:t>
            </a:r>
            <a:r>
              <a:rPr lang="en-US" sz="2000" dirty="0" err="1"/>
              <a:t>i</a:t>
            </a:r>
            <a:r>
              <a:rPr lang="en-US" sz="2000" dirty="0"/>
              <a:t>∈{1,2,…,N</a:t>
            </a:r>
            <a:r>
              <a:rPr lang="en-US" sz="2000" dirty="0" smtClean="0"/>
              <a:t>} , the update becomes</a:t>
            </a:r>
          </a:p>
          <a:p>
            <a:pPr marL="109728" indent="0">
              <a:buNone/>
            </a:pPr>
            <a:r>
              <a:rPr lang="en-US" sz="2000" dirty="0" smtClean="0"/>
              <a:t>  </a:t>
            </a:r>
          </a:p>
          <a:p>
            <a:r>
              <a:rPr lang="en-US" sz="2000" dirty="0" smtClean="0"/>
              <a:t>This method is called the stochastic gradient method and over many steps, it approximates the behavior of full gradient descent while reducing the computation per step. </a:t>
            </a:r>
            <a:endParaRPr lang="en-US" sz="2000" dirty="0"/>
          </a:p>
        </p:txBody>
      </p:sp>
      <p:sp>
        <p:nvSpPr>
          <p:cNvPr id="3" name="Title 2"/>
          <p:cNvSpPr>
            <a:spLocks noGrp="1"/>
          </p:cNvSpPr>
          <p:nvPr>
            <p:ph type="title"/>
          </p:nvPr>
        </p:nvSpPr>
        <p:spPr/>
        <p:txBody>
          <a:bodyPr/>
          <a:lstStyle/>
          <a:p>
            <a:r>
              <a:rPr lang="en-US" dirty="0" smtClean="0"/>
              <a:t>Stochastic Gradient </a:t>
            </a:r>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7416" y="2139696"/>
            <a:ext cx="2971800" cy="7576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8454" y="4157853"/>
            <a:ext cx="2343150"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04022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smtClean="0"/>
              <a:t>To train a neural network, we have to compute the gradient of the cost with respect to every weight and bias. </a:t>
            </a:r>
          </a:p>
          <a:p>
            <a:r>
              <a:rPr lang="en-US" sz="2000" dirty="0" smtClean="0"/>
              <a:t>Computing these derivatives directly is extremely tedious because each weight affects the output through many layers. </a:t>
            </a:r>
          </a:p>
          <a:p>
            <a:r>
              <a:rPr lang="en-US" sz="2000" dirty="0" smtClean="0"/>
              <a:t>Back Propagation provides an efficient way to compute all these gradients by applying the chain rule layer by layer moving backward through the network. </a:t>
            </a:r>
          </a:p>
          <a:p>
            <a:r>
              <a:rPr lang="en-US" sz="2000" dirty="0" smtClean="0"/>
              <a:t>The idea is to define an error signal at each layer that measures how small of a change in that layer’s activation affects the cost. </a:t>
            </a:r>
          </a:p>
          <a:p>
            <a:r>
              <a:rPr lang="en-US" sz="2000" dirty="0" smtClean="0"/>
              <a:t>Once they are known, the gradients of the cost with respect to the weights and biases can be computed fairly simply. </a:t>
            </a:r>
            <a:endParaRPr lang="en-US" sz="2000" dirty="0"/>
          </a:p>
        </p:txBody>
      </p:sp>
      <p:sp>
        <p:nvSpPr>
          <p:cNvPr id="3" name="Title 2"/>
          <p:cNvSpPr>
            <a:spLocks noGrp="1"/>
          </p:cNvSpPr>
          <p:nvPr>
            <p:ph type="title"/>
          </p:nvPr>
        </p:nvSpPr>
        <p:spPr/>
        <p:txBody>
          <a:bodyPr/>
          <a:lstStyle/>
          <a:p>
            <a:r>
              <a:rPr lang="en-US" dirty="0" smtClean="0"/>
              <a:t>Back Propagation</a:t>
            </a:r>
            <a:endParaRPr lang="en-US" dirty="0"/>
          </a:p>
        </p:txBody>
      </p:sp>
    </p:spTree>
    <p:extLst>
      <p:ext uri="{BB962C8B-B14F-4D97-AF65-F5344CB8AC3E}">
        <p14:creationId xmlns:p14="http://schemas.microsoft.com/office/powerpoint/2010/main" val="2317380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smtClean="0"/>
              <a:t>To derive the expressions for the derivatives, we introduce two sets of variables. First we let:</a:t>
            </a:r>
          </a:p>
          <a:p>
            <a:endParaRPr lang="en-US" sz="2000" dirty="0" smtClean="0"/>
          </a:p>
          <a:p>
            <a:endParaRPr lang="en-US" sz="2000" dirty="0"/>
          </a:p>
          <a:p>
            <a:endParaRPr lang="en-US" sz="2000" dirty="0" smtClean="0"/>
          </a:p>
          <a:p>
            <a:r>
              <a:rPr lang="en-US" sz="2000" dirty="0" smtClean="0"/>
              <a:t>Which is referred as the weighted input for a neuron j at layer l. Then the relation that activates the information through the network is writing as: </a:t>
            </a:r>
            <a:endParaRPr lang="en-US" sz="2000" dirty="0"/>
          </a:p>
        </p:txBody>
      </p:sp>
      <p:sp>
        <p:nvSpPr>
          <p:cNvPr id="3" name="Title 2"/>
          <p:cNvSpPr>
            <a:spLocks noGrp="1"/>
          </p:cNvSpPr>
          <p:nvPr>
            <p:ph type="title"/>
          </p:nvPr>
        </p:nvSpPr>
        <p:spPr/>
        <p:txBody>
          <a:bodyPr>
            <a:normAutofit fontScale="90000"/>
          </a:bodyPr>
          <a:lstStyle/>
          <a:p>
            <a:r>
              <a:rPr lang="en-US" dirty="0" smtClean="0"/>
              <a:t>Back Propagation Formulas: Recall</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259368"/>
            <a:ext cx="4724400" cy="6464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4648200"/>
            <a:ext cx="1752600" cy="639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07889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159764"/>
            <a:ext cx="8534400" cy="5300472"/>
          </a:xfrm>
        </p:spPr>
        <p:txBody>
          <a:bodyPr>
            <a:normAutofit/>
          </a:bodyPr>
          <a:lstStyle/>
          <a:p>
            <a:r>
              <a:rPr lang="en-US" sz="2000" b="1" dirty="0" smtClean="0"/>
              <a:t>Error at output layer:</a:t>
            </a:r>
          </a:p>
          <a:p>
            <a:pPr marL="109728" indent="0">
              <a:buNone/>
            </a:pPr>
            <a:endParaRPr lang="en-US" sz="2000" dirty="0" smtClean="0"/>
          </a:p>
          <a:p>
            <a:r>
              <a:rPr lang="en-US" sz="2000" dirty="0" smtClean="0"/>
              <a:t>Measures how sensitive the cost is to each neuron in the final layer</a:t>
            </a:r>
          </a:p>
          <a:p>
            <a:endParaRPr lang="en-US" sz="2000" dirty="0"/>
          </a:p>
          <a:p>
            <a:r>
              <a:rPr lang="en-US" sz="2000" b="1" dirty="0" smtClean="0"/>
              <a:t>Error propagation for hidden layers</a:t>
            </a:r>
            <a:r>
              <a:rPr lang="en-US" sz="2000" dirty="0" smtClean="0"/>
              <a:t>:</a:t>
            </a:r>
          </a:p>
          <a:p>
            <a:r>
              <a:rPr lang="en-US" sz="2000" dirty="0" smtClean="0"/>
              <a:t>Moves the error backward through the network layer by layer. </a:t>
            </a:r>
          </a:p>
          <a:p>
            <a:r>
              <a:rPr lang="en-US" sz="2000" b="1" dirty="0" smtClean="0"/>
              <a:t>Gradient with respect to biases:</a:t>
            </a:r>
          </a:p>
          <a:p>
            <a:endParaRPr lang="en-US" sz="2000" dirty="0"/>
          </a:p>
          <a:p>
            <a:r>
              <a:rPr lang="en-US" sz="2000" dirty="0" smtClean="0"/>
              <a:t>The error at each neuron is the gradient of the bias at that neuron. </a:t>
            </a:r>
          </a:p>
          <a:p>
            <a:r>
              <a:rPr lang="en-US" sz="2000" b="1" dirty="0" smtClean="0"/>
              <a:t>Gradient with respect to weights:</a:t>
            </a:r>
          </a:p>
          <a:p>
            <a:r>
              <a:rPr lang="en-US" sz="2000" dirty="0" smtClean="0"/>
              <a:t>Each gradient is the product of the error at the current neuron and activation from the previous layer. </a:t>
            </a:r>
            <a:endParaRPr lang="en-US" sz="2000" dirty="0"/>
          </a:p>
        </p:txBody>
      </p:sp>
      <p:sp>
        <p:nvSpPr>
          <p:cNvPr id="3" name="Title 2"/>
          <p:cNvSpPr>
            <a:spLocks noGrp="1"/>
          </p:cNvSpPr>
          <p:nvPr>
            <p:ph type="title"/>
          </p:nvPr>
        </p:nvSpPr>
        <p:spPr/>
        <p:txBody>
          <a:bodyPr/>
          <a:lstStyle/>
          <a:p>
            <a:r>
              <a:rPr lang="en-US" dirty="0" smtClean="0"/>
              <a:t>Back Propagation Formulas</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3886" y="1371599"/>
            <a:ext cx="2828925" cy="428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1900" y="2676140"/>
            <a:ext cx="3548571" cy="4530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6461" y="3668196"/>
            <a:ext cx="1108139" cy="6119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65284" y="5791200"/>
            <a:ext cx="1981200" cy="819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381168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Back Propagation Visual</a:t>
            </a:r>
            <a:endParaRPr lang="en-US"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905000"/>
            <a:ext cx="8333922" cy="41098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07991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smtClean="0"/>
              <a:t>We can use artificial neural networks and deep learning for more realistic tasks as well such as image classification. </a:t>
            </a:r>
          </a:p>
          <a:p>
            <a:r>
              <a:rPr lang="en-US" sz="2000" dirty="0" smtClean="0"/>
              <a:t>Convolutional neural networks are a standard tool in computer vision applications. </a:t>
            </a:r>
          </a:p>
          <a:p>
            <a:r>
              <a:rPr lang="en-US" sz="2000" dirty="0" smtClean="0"/>
              <a:t>Images contain thousands of pixels in 2-D grids. </a:t>
            </a:r>
          </a:p>
          <a:p>
            <a:r>
              <a:rPr lang="en-US" sz="2000" dirty="0" smtClean="0"/>
              <a:t>CNNs use local filters that detect features like edges, corners, textures, and shapes. </a:t>
            </a:r>
          </a:p>
          <a:p>
            <a:r>
              <a:rPr lang="en-US" sz="2000" dirty="0" smtClean="0"/>
              <a:t>These learned features combine across layers to enable the network to recognize, objects, faces, numbers, animals, and more. </a:t>
            </a:r>
            <a:endParaRPr lang="en-US" sz="2000" dirty="0" smtClean="0"/>
          </a:p>
        </p:txBody>
      </p:sp>
      <p:sp>
        <p:nvSpPr>
          <p:cNvPr id="3" name="Title 2"/>
          <p:cNvSpPr>
            <a:spLocks noGrp="1"/>
          </p:cNvSpPr>
          <p:nvPr>
            <p:ph type="title"/>
          </p:nvPr>
        </p:nvSpPr>
        <p:spPr/>
        <p:txBody>
          <a:bodyPr/>
          <a:lstStyle/>
          <a:p>
            <a:r>
              <a:rPr lang="en-US" dirty="0" smtClean="0"/>
              <a:t>Image Classification and CNNS</a:t>
            </a:r>
            <a:endParaRPr lang="en-US" dirty="0"/>
          </a:p>
        </p:txBody>
      </p:sp>
    </p:spTree>
    <p:extLst>
      <p:ext uri="{BB962C8B-B14F-4D97-AF65-F5344CB8AC3E}">
        <p14:creationId xmlns:p14="http://schemas.microsoft.com/office/powerpoint/2010/main" val="2023513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smtClean="0"/>
              <a:t>Overfitting happens when a trained network performs very accurately on the given data, but can’t generalize well to new data. This means it doesn’t learn general patterns well and leads to poor performance on new images.</a:t>
            </a:r>
          </a:p>
          <a:p>
            <a:r>
              <a:rPr lang="en-US" sz="2000" dirty="0" smtClean="0"/>
              <a:t>Examples of ways to stop it include the dropout method, splitting the data into two distinct groups, and early stopping. </a:t>
            </a:r>
          </a:p>
          <a:p>
            <a:r>
              <a:rPr lang="en-US" sz="2000" dirty="0" smtClean="0"/>
              <a:t>Dropout method randomly takes out some neurons during training so the network doesn’t rely on specific connections. </a:t>
            </a:r>
          </a:p>
          <a:p>
            <a:r>
              <a:rPr lang="en-US" sz="2000" dirty="0" smtClean="0"/>
              <a:t>Splitting the data into two distinct groups, training data and validation data. This penalizes large weights. </a:t>
            </a:r>
          </a:p>
          <a:p>
            <a:r>
              <a:rPr lang="en-US" sz="2000" dirty="0" smtClean="0"/>
              <a:t>Early stopping is when you stop the training as soon as the validation error begins to rise. </a:t>
            </a:r>
            <a:endParaRPr lang="en-US" sz="2000" dirty="0"/>
          </a:p>
        </p:txBody>
      </p:sp>
      <p:sp>
        <p:nvSpPr>
          <p:cNvPr id="3" name="Title 2"/>
          <p:cNvSpPr>
            <a:spLocks noGrp="1"/>
          </p:cNvSpPr>
          <p:nvPr>
            <p:ph type="title"/>
          </p:nvPr>
        </p:nvSpPr>
        <p:spPr/>
        <p:txBody>
          <a:bodyPr>
            <a:noAutofit/>
          </a:bodyPr>
          <a:lstStyle/>
          <a:p>
            <a:r>
              <a:rPr lang="en-US" sz="3200" dirty="0" smtClean="0"/>
              <a:t>Key Concepts in Image Classification</a:t>
            </a:r>
            <a:endParaRPr lang="en-US" sz="3200" dirty="0"/>
          </a:p>
        </p:txBody>
      </p:sp>
    </p:spTree>
    <p:extLst>
      <p:ext uri="{BB962C8B-B14F-4D97-AF65-F5344CB8AC3E}">
        <p14:creationId xmlns:p14="http://schemas.microsoft.com/office/powerpoint/2010/main" val="6007390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400" dirty="0" smtClean="0"/>
              <a:t>Neural networks learn patterns from complex formulas and can discover patterns as well from data. </a:t>
            </a:r>
          </a:p>
          <a:p>
            <a:r>
              <a:rPr lang="en-US" sz="2400" dirty="0" smtClean="0"/>
              <a:t>They are used in computer vision, speech and audio recognition, game-playing (like chess), face recognition, and a lot more. </a:t>
            </a:r>
          </a:p>
          <a:p>
            <a:r>
              <a:rPr lang="en-US" sz="2400" dirty="0" smtClean="0"/>
              <a:t>It is also easy to keep on improving these networks with training and layers as well. </a:t>
            </a:r>
            <a:endParaRPr lang="en-US" sz="2400" dirty="0"/>
          </a:p>
        </p:txBody>
      </p:sp>
      <p:sp>
        <p:nvSpPr>
          <p:cNvPr id="3" name="Title 2"/>
          <p:cNvSpPr>
            <a:spLocks noGrp="1"/>
          </p:cNvSpPr>
          <p:nvPr>
            <p:ph type="title"/>
          </p:nvPr>
        </p:nvSpPr>
        <p:spPr/>
        <p:txBody>
          <a:bodyPr/>
          <a:lstStyle/>
          <a:p>
            <a:r>
              <a:rPr lang="en-US" dirty="0" smtClean="0"/>
              <a:t>Why Use Neural Networks?</a:t>
            </a:r>
            <a:endParaRPr lang="en-US" dirty="0"/>
          </a:p>
        </p:txBody>
      </p:sp>
    </p:spTree>
    <p:extLst>
      <p:ext uri="{BB962C8B-B14F-4D97-AF65-F5344CB8AC3E}">
        <p14:creationId xmlns:p14="http://schemas.microsoft.com/office/powerpoint/2010/main" val="39179983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2401</TotalTime>
  <Words>1645</Words>
  <Application>Microsoft Office PowerPoint</Application>
  <PresentationFormat>On-screen Show (4:3)</PresentationFormat>
  <Paragraphs>131</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Concourse</vt:lpstr>
      <vt:lpstr>Mathematics Behind Deep Learning</vt:lpstr>
      <vt:lpstr>Overview </vt:lpstr>
      <vt:lpstr>What is an Artificial Neural Network?</vt:lpstr>
      <vt:lpstr>Example: Classifying Points in  </vt:lpstr>
      <vt:lpstr>The Sigmoid Function</vt:lpstr>
      <vt:lpstr>How a layer works</vt:lpstr>
      <vt:lpstr>The Four-Layer Network</vt:lpstr>
      <vt:lpstr>Four-Layer Network Imagery</vt:lpstr>
      <vt:lpstr>The Cost Function</vt:lpstr>
      <vt:lpstr>The Cost Function Formula</vt:lpstr>
      <vt:lpstr>Visualization of output </vt:lpstr>
      <vt:lpstr>The General Setup</vt:lpstr>
      <vt:lpstr>General form of a Neural Network Layer</vt:lpstr>
      <vt:lpstr>General Cost and Training Objective</vt:lpstr>
      <vt:lpstr>Gradient Descent</vt:lpstr>
      <vt:lpstr>Stochastic Gradient </vt:lpstr>
      <vt:lpstr>Back Propagation</vt:lpstr>
      <vt:lpstr>Back Propagation Formulas: Recall</vt:lpstr>
      <vt:lpstr>Back Propagation Formulas</vt:lpstr>
      <vt:lpstr>Back Propagation Visual</vt:lpstr>
      <vt:lpstr>Image Classification and CNNS</vt:lpstr>
      <vt:lpstr>Key Concepts in Image Classification</vt:lpstr>
      <vt:lpstr>Why Use Neural Networks?</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Mathematics Behind Deep Learning</dc:title>
  <dc:creator>stress</dc:creator>
  <cp:lastModifiedBy>stress</cp:lastModifiedBy>
  <cp:revision>35</cp:revision>
  <dcterms:created xsi:type="dcterms:W3CDTF">2025-12-06T17:34:36Z</dcterms:created>
  <dcterms:modified xsi:type="dcterms:W3CDTF">2025-12-10T20:28:53Z</dcterms:modified>
</cp:coreProperties>
</file>